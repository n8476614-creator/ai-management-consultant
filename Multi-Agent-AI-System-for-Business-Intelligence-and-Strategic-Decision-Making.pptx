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7" r:id="rId12"/>
    <p:sldId id="265" r:id="rId13"/>
  </p:sldIdLst>
  <p:sldSz cx="9144000" cy="5143500" type="screen16x9"/>
  <p:notesSz cx="5143500" cy="9144000"/>
  <p:embeddedFontLst>
    <p:embeddedFont>
      <p:font typeface="Geist 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eist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27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2.svg"/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2.svg"/><Relationship Id="rId11" Type="http://schemas.openxmlformats.org/officeDocument/2006/relationships/image" Target="../media/image10.png"/><Relationship Id="rId5" Type="http://schemas.openxmlformats.org/officeDocument/2006/relationships/image" Target="../media/image-2-2.svg"/><Relationship Id="rId10" Type="http://schemas.openxmlformats.org/officeDocument/2006/relationships/image" Target="../media/image-2-2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13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-3-1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-3-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14.png"/><Relationship Id="rId14" Type="http://schemas.openxmlformats.org/officeDocument/2006/relationships/image" Target="../media/image-3-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6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-5-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image" Target="../media/image-5-8.svg"/><Relationship Id="rId4" Type="http://schemas.openxmlformats.org/officeDocument/2006/relationships/image" Target="../media/image-5-2.sv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8.svg"/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12" Type="http://schemas.openxmlformats.org/officeDocument/2006/relationships/image" Target="../media/image-7-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2.svg"/><Relationship Id="rId5" Type="http://schemas.openxmlformats.org/officeDocument/2006/relationships/image" Target="../media/image-7-2.svg"/><Relationship Id="rId15" Type="http://schemas.openxmlformats.org/officeDocument/2006/relationships/image" Target="../media/image28.jpeg"/><Relationship Id="rId10" Type="http://schemas.openxmlformats.org/officeDocument/2006/relationships/image" Target="../media/image-7-8.svg"/><Relationship Id="rId4" Type="http://schemas.openxmlformats.org/officeDocument/2006/relationships/image" Target="../media/image-7-2.svg"/><Relationship Id="rId14" Type="http://schemas.openxmlformats.org/officeDocument/2006/relationships/image" Target="../media/image-7-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svg"/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image" Target="../media/image-8-10.sv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sv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-8-13.svg"/><Relationship Id="rId10" Type="http://schemas.openxmlformats.org/officeDocument/2006/relationships/image" Target="../media/image-8-8.svg"/><Relationship Id="rId4" Type="http://schemas.openxmlformats.org/officeDocument/2006/relationships/image" Target="../media/image-8-2.svg"/><Relationship Id="rId9" Type="http://schemas.openxmlformats.org/officeDocument/2006/relationships/image" Target="../media/image32.png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404887"/>
            <a:ext cx="4722763" cy="439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b="1" kern="0" spc="-5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Management Consultant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037258"/>
            <a:ext cx="4722763" cy="303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b="1" kern="0" spc="-7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Multi-Agent AI System for Business Intelligence &amp; Strategic Decision Making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3925119" y="4260577"/>
            <a:ext cx="746522" cy="205234"/>
          </a:xfrm>
          <a:prstGeom prst="roundRect">
            <a:avLst>
              <a:gd name="adj" fmla="val 22122"/>
            </a:avLst>
          </a:prstGeom>
          <a:solidFill>
            <a:srgbClr val="00194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155" y="4309170"/>
            <a:ext cx="108049" cy="1080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8229" y="4301058"/>
            <a:ext cx="87957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739134" y="4260577"/>
            <a:ext cx="889695" cy="205234"/>
          </a:xfrm>
          <a:prstGeom prst="roundRect">
            <a:avLst>
              <a:gd name="adj" fmla="val 22122"/>
            </a:avLst>
          </a:prstGeom>
          <a:solidFill>
            <a:srgbClr val="00194D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171" y="4309170"/>
            <a:ext cx="108049" cy="1080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82245" y="4301058"/>
            <a:ext cx="102274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STREAMLIT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696322" y="4260577"/>
            <a:ext cx="1392436" cy="205234"/>
          </a:xfrm>
          <a:prstGeom prst="roundRect">
            <a:avLst>
              <a:gd name="adj" fmla="val 22122"/>
            </a:avLst>
          </a:prstGeom>
          <a:solidFill>
            <a:srgbClr val="00194D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7359" y="4309170"/>
            <a:ext cx="108049" cy="1080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39433" y="4301058"/>
            <a:ext cx="15254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OPENAI AGENTS SDK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156252" y="4260577"/>
            <a:ext cx="744810" cy="205234"/>
          </a:xfrm>
          <a:prstGeom prst="roundRect">
            <a:avLst>
              <a:gd name="adj" fmla="val 22122"/>
            </a:avLst>
          </a:prstGeom>
          <a:solidFill>
            <a:srgbClr val="00194D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7288" y="4309170"/>
            <a:ext cx="108049" cy="1080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99362" y="4301058"/>
            <a:ext cx="877863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PANDAS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3925119" y="4533305"/>
            <a:ext cx="940891" cy="205234"/>
          </a:xfrm>
          <a:prstGeom prst="roundRect">
            <a:avLst>
              <a:gd name="adj" fmla="val 22122"/>
            </a:avLst>
          </a:prstGeom>
          <a:solidFill>
            <a:srgbClr val="00194D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6155" y="4581897"/>
            <a:ext cx="108049" cy="1080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168229" y="4573786"/>
            <a:ext cx="107394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REPORTLAB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129" y="199899"/>
            <a:ext cx="8303753" cy="31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 &amp; Problem Statement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55639" y="567397"/>
            <a:ext cx="8849443" cy="32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Businesses generate large amounts of sales and operational data, but converting this data into useful business decisions can be difficult and 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0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time</a:t>
            </a:r>
          </a:p>
          <a:p>
            <a:pPr marL="0" indent="0" algn="l">
              <a:lnSpc>
                <a:spcPct val="85000"/>
              </a:lnSpc>
              <a:buNone/>
            </a:pPr>
            <a:r>
              <a:rPr lang="en-US" sz="10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-consuming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923553"/>
            <a:ext cx="8151763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Challenges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127820"/>
            <a:ext cx="2594222" cy="67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73" y="1219274"/>
            <a:ext cx="246466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Profitability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5673" y="1464915"/>
            <a:ext cx="2464668" cy="22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Difficult to identify profitable and </a:t>
            </a:r>
            <a:r>
              <a:rPr lang="en-US" sz="9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unprofitabl</a:t>
            </a:r>
            <a:r>
              <a:rPr lang="en-US" sz="9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</a:t>
            </a:r>
          </a:p>
          <a:p>
            <a:pPr marL="0" indent="0" algn="l">
              <a:lnSpc>
                <a:spcPct val="85000"/>
              </a:lnSpc>
              <a:buNone/>
            </a:pPr>
            <a:r>
              <a:rPr lang="en-US" sz="9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products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207060" y="1127820"/>
            <a:ext cx="2685678" cy="6667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58679" y="1219274"/>
            <a:ext cx="246466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Time-Consuming Analysis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58679" y="1479838"/>
            <a:ext cx="2464668" cy="262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business analysis takes time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962129" y="1127820"/>
            <a:ext cx="2685678" cy="671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1684" y="1219274"/>
            <a:ext cx="246466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 &amp; Competitor Analysis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091684" y="1443929"/>
            <a:ext cx="2464668" cy="228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Market and competitor analysis is difficult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1921893"/>
            <a:ext cx="2594222" cy="7153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5673" y="2056056"/>
            <a:ext cx="2464668" cy="31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Hidden Business Risks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25673" y="2313482"/>
            <a:ext cx="2464668" cy="26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risks may remain hidden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3229124" y="1921893"/>
            <a:ext cx="2685678" cy="70360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58679" y="2061396"/>
            <a:ext cx="2464668" cy="198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Lack of Strategic Direction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3358679" y="2304232"/>
            <a:ext cx="2464668" cy="139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data does not directly provide </a:t>
            </a:r>
            <a:r>
              <a:rPr lang="en-US" sz="9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strategic</a:t>
            </a:r>
          </a:p>
          <a:p>
            <a:pPr marL="0" indent="0" algn="l">
              <a:lnSpc>
                <a:spcPct val="85000"/>
              </a:lnSpc>
              <a:buNone/>
            </a:pPr>
            <a:r>
              <a:rPr lang="en-US" sz="9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decisions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242" y="2537276"/>
            <a:ext cx="7321525" cy="265040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227870" y="4496712"/>
            <a:ext cx="2546555" cy="38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Decision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2684206" y="3697855"/>
            <a:ext cx="2231922" cy="38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Analysis Challenge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448656" y="2902798"/>
            <a:ext cx="1834114" cy="38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Raw Business Data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144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27835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39057"/>
            <a:ext cx="2599134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 Business Data Analysis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272433" y="1278359"/>
            <a:ext cx="283518" cy="283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72433" y="1739057"/>
            <a:ext cx="2599134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Analyze Product &amp; Business Performance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048747" y="1278359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48747" y="1739057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Identify Trends &amp; Anomalies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96119" y="2483197"/>
            <a:ext cx="283518" cy="28351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96119" y="2943895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Perform Financial Analysis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272433" y="2483197"/>
            <a:ext cx="283518" cy="28351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272433" y="2943895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Analyze Market &amp; Competitors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048747" y="2483197"/>
            <a:ext cx="283518" cy="28351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048747" y="2943895"/>
            <a:ext cx="2599134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Generate Strategic Recommendations</a:t>
            </a:r>
            <a:endParaRPr lang="en-US" sz="13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496119" y="3688035"/>
            <a:ext cx="283518" cy="28351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96119" y="4148733"/>
            <a:ext cx="2599134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Provide an Executive-Level Business Report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317"/>
            <a:ext cx="8151763" cy="36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521112"/>
            <a:ext cx="8608963" cy="16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OpenAI Agents SDK is used for multi-agent orchestration</a:t>
            </a: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99951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733"/>
            <a:ext cx="8151763" cy="424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b="1" kern="0" spc="-5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Multi-Agent AI System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077441"/>
            <a:ext cx="2636937" cy="1873076"/>
          </a:xfrm>
          <a:prstGeom prst="roundRect">
            <a:avLst>
              <a:gd name="adj" fmla="val 2931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1077" y="1222400"/>
            <a:ext cx="392013" cy="39201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48903" y="1330226"/>
            <a:ext cx="176361" cy="1763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1077" y="1734889"/>
            <a:ext cx="2347020" cy="21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Analysis Agent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1077" y="2019449"/>
            <a:ext cx="2347020" cy="573807"/>
          </a:xfrm>
          <a:prstGeom prst="rect">
            <a:avLst/>
          </a:prstGeom>
          <a:noFill/>
          <a:ln/>
        </p:spPr>
        <p:txBody>
          <a:bodyPr wrap="square" lIns="0" tIns="52277" rIns="0" bIns="0" rtlCol="0" anchor="t">
            <a:normAutofit/>
          </a:bodyPr>
          <a:lstStyle/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data and KPI analysis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performance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Revenue and profitability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53532" y="1077441"/>
            <a:ext cx="2636937" cy="1873076"/>
          </a:xfrm>
          <a:prstGeom prst="roundRect">
            <a:avLst>
              <a:gd name="adj" fmla="val 2931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98490" y="1222400"/>
            <a:ext cx="392013" cy="39201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506316" y="1330226"/>
            <a:ext cx="176361" cy="1763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8490" y="1734889"/>
            <a:ext cx="2347020" cy="21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 Research Agent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398490" y="2019449"/>
            <a:ext cx="2347020" cy="573807"/>
          </a:xfrm>
          <a:prstGeom prst="rect">
            <a:avLst/>
          </a:prstGeom>
          <a:noFill/>
          <a:ln/>
        </p:spPr>
        <p:txBody>
          <a:bodyPr wrap="square" lIns="0" tIns="52277" rIns="0" bIns="0" rtlCol="0" anchor="t">
            <a:normAutofit/>
          </a:bodyPr>
          <a:lstStyle/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Market trends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Market opportunities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environment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10945" y="1077441"/>
            <a:ext cx="2636937" cy="1873076"/>
          </a:xfrm>
          <a:prstGeom prst="roundRect">
            <a:avLst>
              <a:gd name="adj" fmla="val 2931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55903" y="1222400"/>
            <a:ext cx="392013" cy="39201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63729" y="1330226"/>
            <a:ext cx="176361" cy="1763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55903" y="1734889"/>
            <a:ext cx="2347020" cy="424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Competitor Benchmarking Agent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155903" y="2231752"/>
            <a:ext cx="2347020" cy="573807"/>
          </a:xfrm>
          <a:prstGeom prst="rect">
            <a:avLst/>
          </a:prstGeom>
          <a:noFill/>
          <a:ln/>
        </p:spPr>
        <p:txBody>
          <a:bodyPr wrap="square" lIns="0" tIns="52277" rIns="0" bIns="0" rtlCol="0" anchor="t">
            <a:normAutofit/>
          </a:bodyPr>
          <a:lstStyle/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Competitor comparison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Pricing and positioning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Competitive analysis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96119" y="3070994"/>
            <a:ext cx="4015606" cy="1660773"/>
          </a:xfrm>
          <a:prstGeom prst="roundRect">
            <a:avLst>
              <a:gd name="adj" fmla="val 3305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1077" y="3215953"/>
            <a:ext cx="392013" cy="39201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48903" y="3323779"/>
            <a:ext cx="176361" cy="1763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1077" y="3728442"/>
            <a:ext cx="3725689" cy="21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Analysis Agent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41077" y="4013002"/>
            <a:ext cx="3725689" cy="573807"/>
          </a:xfrm>
          <a:prstGeom prst="rect">
            <a:avLst/>
          </a:prstGeom>
          <a:noFill/>
          <a:ln/>
        </p:spPr>
        <p:txBody>
          <a:bodyPr wrap="square" lIns="0" tIns="52277" rIns="0" bIns="0" rtlCol="0" anchor="t">
            <a:normAutofit/>
          </a:bodyPr>
          <a:lstStyle/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Costs and margins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Financial performance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632201" y="3070994"/>
            <a:ext cx="4015680" cy="1660773"/>
          </a:xfrm>
          <a:prstGeom prst="roundRect">
            <a:avLst>
              <a:gd name="adj" fmla="val 3305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77160" y="3215953"/>
            <a:ext cx="392013" cy="39201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884986" y="3323779"/>
            <a:ext cx="176361" cy="1763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77160" y="3728442"/>
            <a:ext cx="3725763" cy="21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Strategic Recommendations Agent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777160" y="4013002"/>
            <a:ext cx="3725763" cy="573807"/>
          </a:xfrm>
          <a:prstGeom prst="rect">
            <a:avLst/>
          </a:prstGeom>
          <a:noFill/>
          <a:ln/>
        </p:spPr>
        <p:txBody>
          <a:bodyPr wrap="square" lIns="0" tIns="52277" rIns="0" bIns="0" rtlCol="0" anchor="t">
            <a:normAutofit/>
          </a:bodyPr>
          <a:lstStyle/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Combines analytical findings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Generates practical recommendations</a:t>
            </a:r>
            <a:endParaRPr lang="en-US" sz="1000" dirty="0"/>
          </a:p>
          <a:p>
            <a:pPr marL="203200" indent="-2032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Supports management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701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Processing &amp; Business Analysis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78" y="1415920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167002"/>
            <a:ext cx="1190147" cy="470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Trend Analysis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167002"/>
            <a:ext cx="1190146" cy="470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KPI Extraction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167002"/>
            <a:ext cx="1190146" cy="47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Cleaning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167002"/>
            <a:ext cx="1190146" cy="47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86219"/>
            <a:ext cx="1190146" cy="351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CSV/Excel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/>
        </p:nvSpPr>
        <p:spPr>
          <a:xfrm>
            <a:off x="441367" y="521111"/>
            <a:ext cx="4337110" cy="394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1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Analyzed Metrics</a:t>
            </a:r>
            <a:endParaRPr lang="en-US" sz="2000" dirty="0"/>
          </a:p>
        </p:txBody>
      </p:sp>
      <p:sp>
        <p:nvSpPr>
          <p:cNvPr id="3" name="Shape 11"/>
          <p:cNvSpPr/>
          <p:nvPr/>
        </p:nvSpPr>
        <p:spPr>
          <a:xfrm>
            <a:off x="544605" y="1004178"/>
            <a:ext cx="1976958" cy="411473"/>
          </a:xfrm>
          <a:prstGeom prst="roundRect">
            <a:avLst>
              <a:gd name="adj" fmla="val 1117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Revenue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Shape 11"/>
          <p:cNvSpPr/>
          <p:nvPr/>
        </p:nvSpPr>
        <p:spPr>
          <a:xfrm>
            <a:off x="544605" y="1484664"/>
            <a:ext cx="1976958" cy="414054"/>
          </a:xfrm>
          <a:prstGeom prst="roundRect">
            <a:avLst>
              <a:gd name="adj" fmla="val 1117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Units Sold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5" name="Shape 11"/>
          <p:cNvSpPr/>
          <p:nvPr/>
        </p:nvSpPr>
        <p:spPr>
          <a:xfrm>
            <a:off x="544605" y="1985614"/>
            <a:ext cx="1976958" cy="383959"/>
          </a:xfrm>
          <a:prstGeom prst="roundRect">
            <a:avLst>
              <a:gd name="adj" fmla="val 1117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1600" b="1" dirty="0">
                <a:solidFill>
                  <a:schemeClr val="bg1"/>
                </a:solidFill>
              </a:rPr>
              <a:t>Inventory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6" name="Shape 11"/>
          <p:cNvSpPr/>
          <p:nvPr/>
        </p:nvSpPr>
        <p:spPr>
          <a:xfrm>
            <a:off x="544605" y="2540144"/>
            <a:ext cx="1976958" cy="370203"/>
          </a:xfrm>
          <a:prstGeom prst="roundRect">
            <a:avLst>
              <a:gd name="adj" fmla="val 1117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Cost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7" name="Shape 11"/>
          <p:cNvSpPr/>
          <p:nvPr/>
        </p:nvSpPr>
        <p:spPr>
          <a:xfrm>
            <a:off x="544605" y="3627479"/>
            <a:ext cx="1976958" cy="688881"/>
          </a:xfrm>
          <a:prstGeom prst="roundRect">
            <a:avLst>
              <a:gd name="adj" fmla="val 1117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Product Performance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8" name="Shape 11"/>
          <p:cNvSpPr/>
          <p:nvPr/>
        </p:nvSpPr>
        <p:spPr>
          <a:xfrm>
            <a:off x="544605" y="3057199"/>
            <a:ext cx="1976958" cy="413588"/>
          </a:xfrm>
          <a:prstGeom prst="roundRect">
            <a:avLst>
              <a:gd name="adj" fmla="val 1117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Marketing Spend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29" y="816078"/>
            <a:ext cx="4817805" cy="34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7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649" y="389855"/>
            <a:ext cx="8151763" cy="5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Insights, Risk &amp; Decision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14400"/>
            <a:ext cx="8608963" cy="36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converts analysis into business intelligence.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1735" y="1319938"/>
            <a:ext cx="3989412" cy="44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1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Analysis Outputs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15752" y="1645441"/>
            <a:ext cx="3989412" cy="384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1735" y="1756953"/>
            <a:ext cx="37905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Best-performing areas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15752" y="2185169"/>
            <a:ext cx="3989412" cy="391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2340918"/>
            <a:ext cx="3909045" cy="136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Worst-performing areas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23311" y="2663308"/>
            <a:ext cx="3981853" cy="3903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4586" y="2772445"/>
            <a:ext cx="3790578" cy="195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4" dirty="0" smtClean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Trends and anomalies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96119" y="3272476"/>
            <a:ext cx="4083098" cy="34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1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</a:t>
            </a:r>
            <a:r>
              <a:rPr lang="en-US" sz="1100" b="1" kern="0" spc="-14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isk Categories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3636457"/>
            <a:ext cx="1976958" cy="4159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0411" y="3799265"/>
            <a:ext cx="1778124" cy="253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risks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568993" y="3654779"/>
            <a:ext cx="1977033" cy="40416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693535" y="3799265"/>
            <a:ext cx="1967474" cy="14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 risks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96118" y="4215230"/>
            <a:ext cx="1940905" cy="35534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0411" y="4361869"/>
            <a:ext cx="177812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Operational risks</a:t>
            </a:r>
            <a:endParaRPr lang="en-US" sz="10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2568993" y="4203430"/>
            <a:ext cx="1977033" cy="362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2693535" y="4316710"/>
            <a:ext cx="198128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risks</a:t>
            </a:r>
            <a:endParaRPr lang="en-US" sz="10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3232" y="839763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946"/>
            <a:ext cx="8151763" cy="374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kern="0" spc="-4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Strategic Recommendations &amp; Action Plan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87475"/>
            <a:ext cx="8608963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provides practical recommendations instead of only presenting data.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228353"/>
            <a:ext cx="230312" cy="23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575643"/>
            <a:ext cx="2639244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Prioritized Business Actions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252341" y="1228353"/>
            <a:ext cx="230312" cy="230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52341" y="1575643"/>
            <a:ext cx="2639244" cy="374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Marketing &amp; Inventory Recommendations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008563" y="1228353"/>
            <a:ext cx="230312" cy="2303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08563" y="1575643"/>
            <a:ext cx="2639244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Profitability Improvement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7253" y="2021941"/>
            <a:ext cx="230312" cy="2303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8985" y="2318817"/>
            <a:ext cx="2639244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 Mitigation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252341" y="2137097"/>
            <a:ext cx="230312" cy="23031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252341" y="2484388"/>
            <a:ext cx="2639244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Expected Benefits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8563" y="2137097"/>
            <a:ext cx="230312" cy="23031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08563" y="2484388"/>
            <a:ext cx="2639244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KPIs to Monitor</a:t>
            </a:r>
            <a:endParaRPr lang="en-US" sz="11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99431" y="2808276"/>
            <a:ext cx="230312" cy="23031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58985" y="3112405"/>
            <a:ext cx="2676378" cy="280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Suggested Timelines</a:t>
            </a: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496119" y="3533477"/>
            <a:ext cx="8151763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 Action Roadmap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6119" y="3860974"/>
            <a:ext cx="2717229" cy="46069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11237" y="4415210"/>
            <a:ext cx="2486992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Immediate Actions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13348" y="3860974"/>
            <a:ext cx="2717229" cy="460697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328467" y="4415210"/>
            <a:ext cx="2486992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Short-Term Actions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30578" y="3860974"/>
            <a:ext cx="2717229" cy="460697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045696" y="4415210"/>
            <a:ext cx="2486992" cy="187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Long-Term Actions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6119" y="1070893"/>
            <a:ext cx="8151763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1196727"/>
            <a:ext cx="8151763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1322561"/>
            <a:ext cx="8151763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994415" y="3916404"/>
            <a:ext cx="1190146" cy="47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endParaRPr lang="en-US" sz="14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23" y="157316"/>
            <a:ext cx="7859354" cy="47194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127819"/>
            <a:ext cx="8711381" cy="501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43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257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110555"/>
            <a:ext cx="4107135" cy="1916683"/>
          </a:xfrm>
          <a:prstGeom prst="roundRect">
            <a:avLst>
              <a:gd name="adj" fmla="val 5325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252314"/>
            <a:ext cx="3823618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Outcomes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624385"/>
            <a:ext cx="3823618" cy="130373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Automates business analysis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Coordinates multiple specialized AI agents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Converts business data into actionable insights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risk assessment and strategic recommendations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Generates executive-ready reports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252314"/>
            <a:ext cx="390294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624385"/>
            <a:ext cx="3902943" cy="135329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market data integration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competitor intelligence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Advanced forecasting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Database/API integration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More specialized AI agents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recurring business reports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984" y="4340200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79197" y="4399285"/>
            <a:ext cx="8151763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7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366</Words>
  <Application>Microsoft Office PowerPoint</Application>
  <PresentationFormat>On-screen Show (16:9)</PresentationFormat>
  <Paragraphs>119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Geist Bold</vt:lpstr>
      <vt:lpstr>Calibri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Windows User</cp:lastModifiedBy>
  <cp:revision>10</cp:revision>
  <dcterms:created xsi:type="dcterms:W3CDTF">2026-08-17T10:31:11Z</dcterms:created>
  <dcterms:modified xsi:type="dcterms:W3CDTF">2026-08-17T14:22:10Z</dcterms:modified>
</cp:coreProperties>
</file>